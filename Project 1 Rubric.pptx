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0B0B04-C018-0349-A7CC-EBC4F33B1C79}" v="2" dt="2022-10-20T22:48:37.9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93"/>
    <p:restoredTop sz="94719"/>
  </p:normalViewPr>
  <p:slideViewPr>
    <p:cSldViewPr snapToGrid="0">
      <p:cViewPr varScale="1">
        <p:scale>
          <a:sx n="148" d="100"/>
          <a:sy n="148" d="100"/>
        </p:scale>
        <p:origin x="10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hammad Ali Yousuf" userId="cd84bf76-95e8-4daa-adff-73edd31c76ba" providerId="ADAL" clId="{960B0B04-C018-0349-A7CC-EBC4F33B1C79}"/>
    <pc:docChg chg="custSel modSld">
      <pc:chgData name="Muhammad Ali Yousuf" userId="cd84bf76-95e8-4daa-adff-73edd31c76ba" providerId="ADAL" clId="{960B0B04-C018-0349-A7CC-EBC4F33B1C79}" dt="2022-10-21T01:41:49.170" v="582" actId="20577"/>
      <pc:docMkLst>
        <pc:docMk/>
      </pc:docMkLst>
      <pc:sldChg chg="modSp mod">
        <pc:chgData name="Muhammad Ali Yousuf" userId="cd84bf76-95e8-4daa-adff-73edd31c76ba" providerId="ADAL" clId="{960B0B04-C018-0349-A7CC-EBC4F33B1C79}" dt="2022-10-21T01:36:32.647" v="567" actId="20577"/>
        <pc:sldMkLst>
          <pc:docMk/>
          <pc:sldMk cId="1583605795" sldId="256"/>
        </pc:sldMkLst>
        <pc:spChg chg="mod">
          <ac:chgData name="Muhammad Ali Yousuf" userId="cd84bf76-95e8-4daa-adff-73edd31c76ba" providerId="ADAL" clId="{960B0B04-C018-0349-A7CC-EBC4F33B1C79}" dt="2022-10-21T01:36:32.647" v="567" actId="20577"/>
          <ac:spMkLst>
            <pc:docMk/>
            <pc:sldMk cId="1583605795" sldId="256"/>
            <ac:spMk id="3" creationId="{27DDED4A-2424-C80F-20AD-2035B6BEA25B}"/>
          </ac:spMkLst>
        </pc:spChg>
      </pc:sldChg>
      <pc:sldChg chg="modSp mod">
        <pc:chgData name="Muhammad Ali Yousuf" userId="cd84bf76-95e8-4daa-adff-73edd31c76ba" providerId="ADAL" clId="{960B0B04-C018-0349-A7CC-EBC4F33B1C79}" dt="2022-10-21T01:39:58.885" v="571" actId="20577"/>
        <pc:sldMkLst>
          <pc:docMk/>
          <pc:sldMk cId="593787647" sldId="258"/>
        </pc:sldMkLst>
        <pc:spChg chg="mod">
          <ac:chgData name="Muhammad Ali Yousuf" userId="cd84bf76-95e8-4daa-adff-73edd31c76ba" providerId="ADAL" clId="{960B0B04-C018-0349-A7CC-EBC4F33B1C79}" dt="2022-10-21T01:39:58.885" v="571" actId="20577"/>
          <ac:spMkLst>
            <pc:docMk/>
            <pc:sldMk cId="593787647" sldId="258"/>
            <ac:spMk id="3" creationId="{7B43265E-45FB-4C81-DB95-9F46F6054D56}"/>
          </ac:spMkLst>
        </pc:spChg>
      </pc:sldChg>
      <pc:sldChg chg="modSp mod">
        <pc:chgData name="Muhammad Ali Yousuf" userId="cd84bf76-95e8-4daa-adff-73edd31c76ba" providerId="ADAL" clId="{960B0B04-C018-0349-A7CC-EBC4F33B1C79}" dt="2022-10-21T01:41:49.170" v="582" actId="20577"/>
        <pc:sldMkLst>
          <pc:docMk/>
          <pc:sldMk cId="3673806685" sldId="259"/>
        </pc:sldMkLst>
        <pc:spChg chg="mod">
          <ac:chgData name="Muhammad Ali Yousuf" userId="cd84bf76-95e8-4daa-adff-73edd31c76ba" providerId="ADAL" clId="{960B0B04-C018-0349-A7CC-EBC4F33B1C79}" dt="2022-10-21T01:41:49.170" v="582" actId="20577"/>
          <ac:spMkLst>
            <pc:docMk/>
            <pc:sldMk cId="3673806685" sldId="259"/>
            <ac:spMk id="3" creationId="{03C97160-1960-6C83-5E48-40204D4E98E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C4363-CE21-42F7-80C8-E955CAD790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04C76E-98CA-9E22-09FA-4CF5ED029C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758F56-7231-5249-7586-66FCD64B5F75}"/>
              </a:ext>
            </a:extLst>
          </p:cNvPr>
          <p:cNvSpPr>
            <a:spLocks noGrp="1"/>
          </p:cNvSpPr>
          <p:nvPr>
            <p:ph type="dt" sz="half" idx="10"/>
          </p:nvPr>
        </p:nvSpPr>
        <p:spPr/>
        <p:txBody>
          <a:bodyPr/>
          <a:lstStyle/>
          <a:p>
            <a:fld id="{C06DDEFA-A52A-8F42-A356-C2F3C2B42DF0}" type="datetimeFigureOut">
              <a:rPr lang="en-US" smtClean="0"/>
              <a:t>10/19/22</a:t>
            </a:fld>
            <a:endParaRPr lang="en-US"/>
          </a:p>
        </p:txBody>
      </p:sp>
      <p:sp>
        <p:nvSpPr>
          <p:cNvPr id="5" name="Footer Placeholder 4">
            <a:extLst>
              <a:ext uri="{FF2B5EF4-FFF2-40B4-BE49-F238E27FC236}">
                <a16:creationId xmlns:a16="http://schemas.microsoft.com/office/drawing/2014/main" id="{E7B121FA-4817-8C9E-FAB8-B012D2EDCB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3C1361-39F5-91B6-6E6C-DF2ECB8F4154}"/>
              </a:ext>
            </a:extLst>
          </p:cNvPr>
          <p:cNvSpPr>
            <a:spLocks noGrp="1"/>
          </p:cNvSpPr>
          <p:nvPr>
            <p:ph type="sldNum" sz="quarter" idx="12"/>
          </p:nvPr>
        </p:nvSpPr>
        <p:spPr/>
        <p:txBody>
          <a:bodyPr/>
          <a:lstStyle/>
          <a:p>
            <a:fld id="{898E338F-CAC0-714D-9E73-457E3A39A256}" type="slidenum">
              <a:rPr lang="en-US" smtClean="0"/>
              <a:t>‹#›</a:t>
            </a:fld>
            <a:endParaRPr lang="en-US"/>
          </a:p>
        </p:txBody>
      </p:sp>
    </p:spTree>
    <p:extLst>
      <p:ext uri="{BB962C8B-B14F-4D97-AF65-F5344CB8AC3E}">
        <p14:creationId xmlns:p14="http://schemas.microsoft.com/office/powerpoint/2010/main" val="4199357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4F482-2139-1ED8-ED59-A25D797EC2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E707DF-7E50-CF62-8229-B621D65BAA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172499-1EA1-3C5F-CBD9-ED5BBA5F5001}"/>
              </a:ext>
            </a:extLst>
          </p:cNvPr>
          <p:cNvSpPr>
            <a:spLocks noGrp="1"/>
          </p:cNvSpPr>
          <p:nvPr>
            <p:ph type="dt" sz="half" idx="10"/>
          </p:nvPr>
        </p:nvSpPr>
        <p:spPr/>
        <p:txBody>
          <a:bodyPr/>
          <a:lstStyle/>
          <a:p>
            <a:fld id="{C06DDEFA-A52A-8F42-A356-C2F3C2B42DF0}" type="datetimeFigureOut">
              <a:rPr lang="en-US" smtClean="0"/>
              <a:t>10/19/22</a:t>
            </a:fld>
            <a:endParaRPr lang="en-US"/>
          </a:p>
        </p:txBody>
      </p:sp>
      <p:sp>
        <p:nvSpPr>
          <p:cNvPr id="5" name="Footer Placeholder 4">
            <a:extLst>
              <a:ext uri="{FF2B5EF4-FFF2-40B4-BE49-F238E27FC236}">
                <a16:creationId xmlns:a16="http://schemas.microsoft.com/office/drawing/2014/main" id="{84B47841-2BC2-B4EA-DB57-7C097C6548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341A18-D605-A5BE-70C3-450EEE8242E2}"/>
              </a:ext>
            </a:extLst>
          </p:cNvPr>
          <p:cNvSpPr>
            <a:spLocks noGrp="1"/>
          </p:cNvSpPr>
          <p:nvPr>
            <p:ph type="sldNum" sz="quarter" idx="12"/>
          </p:nvPr>
        </p:nvSpPr>
        <p:spPr/>
        <p:txBody>
          <a:bodyPr/>
          <a:lstStyle/>
          <a:p>
            <a:fld id="{898E338F-CAC0-714D-9E73-457E3A39A256}" type="slidenum">
              <a:rPr lang="en-US" smtClean="0"/>
              <a:t>‹#›</a:t>
            </a:fld>
            <a:endParaRPr lang="en-US"/>
          </a:p>
        </p:txBody>
      </p:sp>
    </p:spTree>
    <p:extLst>
      <p:ext uri="{BB962C8B-B14F-4D97-AF65-F5344CB8AC3E}">
        <p14:creationId xmlns:p14="http://schemas.microsoft.com/office/powerpoint/2010/main" val="1239574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DB295-B437-0499-559E-719B37D6E5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2A0F0AA-361C-5584-E913-2B9D94F9F48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564EDA-4080-97B0-7A4F-9D2DB8D57A6D}"/>
              </a:ext>
            </a:extLst>
          </p:cNvPr>
          <p:cNvSpPr>
            <a:spLocks noGrp="1"/>
          </p:cNvSpPr>
          <p:nvPr>
            <p:ph type="dt" sz="half" idx="10"/>
          </p:nvPr>
        </p:nvSpPr>
        <p:spPr/>
        <p:txBody>
          <a:bodyPr/>
          <a:lstStyle/>
          <a:p>
            <a:fld id="{C06DDEFA-A52A-8F42-A356-C2F3C2B42DF0}" type="datetimeFigureOut">
              <a:rPr lang="en-US" smtClean="0"/>
              <a:t>10/19/22</a:t>
            </a:fld>
            <a:endParaRPr lang="en-US"/>
          </a:p>
        </p:txBody>
      </p:sp>
      <p:sp>
        <p:nvSpPr>
          <p:cNvPr id="5" name="Footer Placeholder 4">
            <a:extLst>
              <a:ext uri="{FF2B5EF4-FFF2-40B4-BE49-F238E27FC236}">
                <a16:creationId xmlns:a16="http://schemas.microsoft.com/office/drawing/2014/main" id="{C5333802-F2E2-4204-AC7F-790368B987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E5222-6AEE-2C47-E0ED-C6B391B6FD38}"/>
              </a:ext>
            </a:extLst>
          </p:cNvPr>
          <p:cNvSpPr>
            <a:spLocks noGrp="1"/>
          </p:cNvSpPr>
          <p:nvPr>
            <p:ph type="sldNum" sz="quarter" idx="12"/>
          </p:nvPr>
        </p:nvSpPr>
        <p:spPr/>
        <p:txBody>
          <a:bodyPr/>
          <a:lstStyle/>
          <a:p>
            <a:fld id="{898E338F-CAC0-714D-9E73-457E3A39A256}" type="slidenum">
              <a:rPr lang="en-US" smtClean="0"/>
              <a:t>‹#›</a:t>
            </a:fld>
            <a:endParaRPr lang="en-US"/>
          </a:p>
        </p:txBody>
      </p:sp>
    </p:spTree>
    <p:extLst>
      <p:ext uri="{BB962C8B-B14F-4D97-AF65-F5344CB8AC3E}">
        <p14:creationId xmlns:p14="http://schemas.microsoft.com/office/powerpoint/2010/main" val="2940302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86542-3614-CE7B-0567-47D2119104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F08823-95AF-E772-AB3A-FA93BDD35F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D684BA-144D-B001-8994-FF2C2316F1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BC8540A-A121-724F-959B-A3932717234B}"/>
              </a:ext>
            </a:extLst>
          </p:cNvPr>
          <p:cNvSpPr>
            <a:spLocks noGrp="1"/>
          </p:cNvSpPr>
          <p:nvPr>
            <p:ph type="dt" sz="half" idx="10"/>
          </p:nvPr>
        </p:nvSpPr>
        <p:spPr/>
        <p:txBody>
          <a:bodyPr/>
          <a:lstStyle/>
          <a:p>
            <a:fld id="{C06DDEFA-A52A-8F42-A356-C2F3C2B42DF0}" type="datetimeFigureOut">
              <a:rPr lang="en-US" smtClean="0"/>
              <a:t>10/19/22</a:t>
            </a:fld>
            <a:endParaRPr lang="en-US"/>
          </a:p>
        </p:txBody>
      </p:sp>
      <p:sp>
        <p:nvSpPr>
          <p:cNvPr id="6" name="Footer Placeholder 5">
            <a:extLst>
              <a:ext uri="{FF2B5EF4-FFF2-40B4-BE49-F238E27FC236}">
                <a16:creationId xmlns:a16="http://schemas.microsoft.com/office/drawing/2014/main" id="{6157B2C2-5854-BDFA-A2A0-F97DC27A22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F2C121-5C48-EAD3-C164-84D1429AE34F}"/>
              </a:ext>
            </a:extLst>
          </p:cNvPr>
          <p:cNvSpPr>
            <a:spLocks noGrp="1"/>
          </p:cNvSpPr>
          <p:nvPr>
            <p:ph type="sldNum" sz="quarter" idx="12"/>
          </p:nvPr>
        </p:nvSpPr>
        <p:spPr/>
        <p:txBody>
          <a:bodyPr/>
          <a:lstStyle/>
          <a:p>
            <a:fld id="{898E338F-CAC0-714D-9E73-457E3A39A256}" type="slidenum">
              <a:rPr lang="en-US" smtClean="0"/>
              <a:t>‹#›</a:t>
            </a:fld>
            <a:endParaRPr lang="en-US"/>
          </a:p>
        </p:txBody>
      </p:sp>
    </p:spTree>
    <p:extLst>
      <p:ext uri="{BB962C8B-B14F-4D97-AF65-F5344CB8AC3E}">
        <p14:creationId xmlns:p14="http://schemas.microsoft.com/office/powerpoint/2010/main" val="3865604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79895-17FD-2081-E458-BC20F6BBB61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B47FB70-5F82-52B6-10E3-0B8B315FC0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D6B715-BE65-1D46-586D-BACEFBE8E3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5054CF8-2110-AC22-BB5C-B958C692BC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146A8-B949-594A-FCE2-E51366B2B5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40A9D35-6CE3-85B9-18D9-81C2D2D14867}"/>
              </a:ext>
            </a:extLst>
          </p:cNvPr>
          <p:cNvSpPr>
            <a:spLocks noGrp="1"/>
          </p:cNvSpPr>
          <p:nvPr>
            <p:ph type="dt" sz="half" idx="10"/>
          </p:nvPr>
        </p:nvSpPr>
        <p:spPr/>
        <p:txBody>
          <a:bodyPr/>
          <a:lstStyle/>
          <a:p>
            <a:fld id="{C06DDEFA-A52A-8F42-A356-C2F3C2B42DF0}" type="datetimeFigureOut">
              <a:rPr lang="en-US" smtClean="0"/>
              <a:t>10/19/22</a:t>
            </a:fld>
            <a:endParaRPr lang="en-US"/>
          </a:p>
        </p:txBody>
      </p:sp>
      <p:sp>
        <p:nvSpPr>
          <p:cNvPr id="8" name="Footer Placeholder 7">
            <a:extLst>
              <a:ext uri="{FF2B5EF4-FFF2-40B4-BE49-F238E27FC236}">
                <a16:creationId xmlns:a16="http://schemas.microsoft.com/office/drawing/2014/main" id="{B8352ACE-63D8-64C8-1689-6CB1A6986EF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3CAAAAE-1F16-0A1B-0067-744396098149}"/>
              </a:ext>
            </a:extLst>
          </p:cNvPr>
          <p:cNvSpPr>
            <a:spLocks noGrp="1"/>
          </p:cNvSpPr>
          <p:nvPr>
            <p:ph type="sldNum" sz="quarter" idx="12"/>
          </p:nvPr>
        </p:nvSpPr>
        <p:spPr/>
        <p:txBody>
          <a:bodyPr/>
          <a:lstStyle/>
          <a:p>
            <a:fld id="{898E338F-CAC0-714D-9E73-457E3A39A256}" type="slidenum">
              <a:rPr lang="en-US" smtClean="0"/>
              <a:t>‹#›</a:t>
            </a:fld>
            <a:endParaRPr lang="en-US"/>
          </a:p>
        </p:txBody>
      </p:sp>
    </p:spTree>
    <p:extLst>
      <p:ext uri="{BB962C8B-B14F-4D97-AF65-F5344CB8AC3E}">
        <p14:creationId xmlns:p14="http://schemas.microsoft.com/office/powerpoint/2010/main" val="3610948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B1F29-FBFB-CD8A-0763-75778627707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9E07DC7-633B-005D-1394-2B90DD82A02C}"/>
              </a:ext>
            </a:extLst>
          </p:cNvPr>
          <p:cNvSpPr>
            <a:spLocks noGrp="1"/>
          </p:cNvSpPr>
          <p:nvPr>
            <p:ph type="dt" sz="half" idx="10"/>
          </p:nvPr>
        </p:nvSpPr>
        <p:spPr/>
        <p:txBody>
          <a:bodyPr/>
          <a:lstStyle/>
          <a:p>
            <a:fld id="{C06DDEFA-A52A-8F42-A356-C2F3C2B42DF0}" type="datetimeFigureOut">
              <a:rPr lang="en-US" smtClean="0"/>
              <a:t>10/19/22</a:t>
            </a:fld>
            <a:endParaRPr lang="en-US"/>
          </a:p>
        </p:txBody>
      </p:sp>
      <p:sp>
        <p:nvSpPr>
          <p:cNvPr id="4" name="Footer Placeholder 3">
            <a:extLst>
              <a:ext uri="{FF2B5EF4-FFF2-40B4-BE49-F238E27FC236}">
                <a16:creationId xmlns:a16="http://schemas.microsoft.com/office/drawing/2014/main" id="{659A6071-1618-878A-C95B-950AEEBE6CC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13F3FD-204B-6E8E-C9CE-3F907BFC2367}"/>
              </a:ext>
            </a:extLst>
          </p:cNvPr>
          <p:cNvSpPr>
            <a:spLocks noGrp="1"/>
          </p:cNvSpPr>
          <p:nvPr>
            <p:ph type="sldNum" sz="quarter" idx="12"/>
          </p:nvPr>
        </p:nvSpPr>
        <p:spPr/>
        <p:txBody>
          <a:bodyPr/>
          <a:lstStyle/>
          <a:p>
            <a:fld id="{898E338F-CAC0-714D-9E73-457E3A39A256}" type="slidenum">
              <a:rPr lang="en-US" smtClean="0"/>
              <a:t>‹#›</a:t>
            </a:fld>
            <a:endParaRPr lang="en-US"/>
          </a:p>
        </p:txBody>
      </p:sp>
    </p:spTree>
    <p:extLst>
      <p:ext uri="{BB962C8B-B14F-4D97-AF65-F5344CB8AC3E}">
        <p14:creationId xmlns:p14="http://schemas.microsoft.com/office/powerpoint/2010/main" val="1270002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1C28BD-99DF-F061-5C10-69F7F1CE82CE}"/>
              </a:ext>
            </a:extLst>
          </p:cNvPr>
          <p:cNvSpPr>
            <a:spLocks noGrp="1"/>
          </p:cNvSpPr>
          <p:nvPr>
            <p:ph type="dt" sz="half" idx="10"/>
          </p:nvPr>
        </p:nvSpPr>
        <p:spPr/>
        <p:txBody>
          <a:bodyPr/>
          <a:lstStyle/>
          <a:p>
            <a:fld id="{C06DDEFA-A52A-8F42-A356-C2F3C2B42DF0}" type="datetimeFigureOut">
              <a:rPr lang="en-US" smtClean="0"/>
              <a:t>10/19/22</a:t>
            </a:fld>
            <a:endParaRPr lang="en-US"/>
          </a:p>
        </p:txBody>
      </p:sp>
      <p:sp>
        <p:nvSpPr>
          <p:cNvPr id="3" name="Footer Placeholder 2">
            <a:extLst>
              <a:ext uri="{FF2B5EF4-FFF2-40B4-BE49-F238E27FC236}">
                <a16:creationId xmlns:a16="http://schemas.microsoft.com/office/drawing/2014/main" id="{CB1F450D-825D-519A-4243-DF4BB1448B4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B598D3D-6D9A-8B78-B5D4-B1EBA1BB6F40}"/>
              </a:ext>
            </a:extLst>
          </p:cNvPr>
          <p:cNvSpPr>
            <a:spLocks noGrp="1"/>
          </p:cNvSpPr>
          <p:nvPr>
            <p:ph type="sldNum" sz="quarter" idx="12"/>
          </p:nvPr>
        </p:nvSpPr>
        <p:spPr/>
        <p:txBody>
          <a:bodyPr/>
          <a:lstStyle/>
          <a:p>
            <a:fld id="{898E338F-CAC0-714D-9E73-457E3A39A256}" type="slidenum">
              <a:rPr lang="en-US" smtClean="0"/>
              <a:t>‹#›</a:t>
            </a:fld>
            <a:endParaRPr lang="en-US"/>
          </a:p>
        </p:txBody>
      </p:sp>
    </p:spTree>
    <p:extLst>
      <p:ext uri="{BB962C8B-B14F-4D97-AF65-F5344CB8AC3E}">
        <p14:creationId xmlns:p14="http://schemas.microsoft.com/office/powerpoint/2010/main" val="196437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3206F-F884-5729-442A-1D09F7184B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EC70FF6-24BA-CBFB-55B1-764E3E6BC6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18015AF-F9A2-796D-1F8C-3008F3AC06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7B08A3-D599-6BA9-28FC-F90A7B68FE4C}"/>
              </a:ext>
            </a:extLst>
          </p:cNvPr>
          <p:cNvSpPr>
            <a:spLocks noGrp="1"/>
          </p:cNvSpPr>
          <p:nvPr>
            <p:ph type="dt" sz="half" idx="10"/>
          </p:nvPr>
        </p:nvSpPr>
        <p:spPr/>
        <p:txBody>
          <a:bodyPr/>
          <a:lstStyle/>
          <a:p>
            <a:fld id="{C06DDEFA-A52A-8F42-A356-C2F3C2B42DF0}" type="datetimeFigureOut">
              <a:rPr lang="en-US" smtClean="0"/>
              <a:t>10/19/22</a:t>
            </a:fld>
            <a:endParaRPr lang="en-US"/>
          </a:p>
        </p:txBody>
      </p:sp>
      <p:sp>
        <p:nvSpPr>
          <p:cNvPr id="6" name="Footer Placeholder 5">
            <a:extLst>
              <a:ext uri="{FF2B5EF4-FFF2-40B4-BE49-F238E27FC236}">
                <a16:creationId xmlns:a16="http://schemas.microsoft.com/office/drawing/2014/main" id="{C612B1DD-A972-1D4B-6282-C0846B9465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9202C5-618A-AF12-ADA7-2710D0C42E21}"/>
              </a:ext>
            </a:extLst>
          </p:cNvPr>
          <p:cNvSpPr>
            <a:spLocks noGrp="1"/>
          </p:cNvSpPr>
          <p:nvPr>
            <p:ph type="sldNum" sz="quarter" idx="12"/>
          </p:nvPr>
        </p:nvSpPr>
        <p:spPr/>
        <p:txBody>
          <a:bodyPr/>
          <a:lstStyle/>
          <a:p>
            <a:fld id="{898E338F-CAC0-714D-9E73-457E3A39A256}" type="slidenum">
              <a:rPr lang="en-US" smtClean="0"/>
              <a:t>‹#›</a:t>
            </a:fld>
            <a:endParaRPr lang="en-US"/>
          </a:p>
        </p:txBody>
      </p:sp>
    </p:spTree>
    <p:extLst>
      <p:ext uri="{BB962C8B-B14F-4D97-AF65-F5344CB8AC3E}">
        <p14:creationId xmlns:p14="http://schemas.microsoft.com/office/powerpoint/2010/main" val="2040307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1BBA9-5357-097B-EE16-684F7C0ABF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FCBF7E7-3D2A-91AE-C237-CF83C3AA65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8B1ABFE-A0CB-CE4D-33A9-53D8DB2CCF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2BABA-8B59-7EAF-AF6D-37D1C84B5EBF}"/>
              </a:ext>
            </a:extLst>
          </p:cNvPr>
          <p:cNvSpPr>
            <a:spLocks noGrp="1"/>
          </p:cNvSpPr>
          <p:nvPr>
            <p:ph type="dt" sz="half" idx="10"/>
          </p:nvPr>
        </p:nvSpPr>
        <p:spPr/>
        <p:txBody>
          <a:bodyPr/>
          <a:lstStyle/>
          <a:p>
            <a:fld id="{C06DDEFA-A52A-8F42-A356-C2F3C2B42DF0}" type="datetimeFigureOut">
              <a:rPr lang="en-US" smtClean="0"/>
              <a:t>10/19/22</a:t>
            </a:fld>
            <a:endParaRPr lang="en-US"/>
          </a:p>
        </p:txBody>
      </p:sp>
      <p:sp>
        <p:nvSpPr>
          <p:cNvPr id="6" name="Footer Placeholder 5">
            <a:extLst>
              <a:ext uri="{FF2B5EF4-FFF2-40B4-BE49-F238E27FC236}">
                <a16:creationId xmlns:a16="http://schemas.microsoft.com/office/drawing/2014/main" id="{38E0CFEB-3058-9C80-0732-79449C1058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FC113F-2AF5-A248-95EC-873AE44930AD}"/>
              </a:ext>
            </a:extLst>
          </p:cNvPr>
          <p:cNvSpPr>
            <a:spLocks noGrp="1"/>
          </p:cNvSpPr>
          <p:nvPr>
            <p:ph type="sldNum" sz="quarter" idx="12"/>
          </p:nvPr>
        </p:nvSpPr>
        <p:spPr/>
        <p:txBody>
          <a:bodyPr/>
          <a:lstStyle/>
          <a:p>
            <a:fld id="{898E338F-CAC0-714D-9E73-457E3A39A256}" type="slidenum">
              <a:rPr lang="en-US" smtClean="0"/>
              <a:t>‹#›</a:t>
            </a:fld>
            <a:endParaRPr lang="en-US"/>
          </a:p>
        </p:txBody>
      </p:sp>
    </p:spTree>
    <p:extLst>
      <p:ext uri="{BB962C8B-B14F-4D97-AF65-F5344CB8AC3E}">
        <p14:creationId xmlns:p14="http://schemas.microsoft.com/office/powerpoint/2010/main" val="2682456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37EE9-AEDC-BE48-7A6C-196C213A552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D2A1314-5956-E72E-0885-54A8E04511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8701F4-90AD-C862-2754-3B1F6B48CEEA}"/>
              </a:ext>
            </a:extLst>
          </p:cNvPr>
          <p:cNvSpPr>
            <a:spLocks noGrp="1"/>
          </p:cNvSpPr>
          <p:nvPr>
            <p:ph type="dt" sz="half" idx="10"/>
          </p:nvPr>
        </p:nvSpPr>
        <p:spPr/>
        <p:txBody>
          <a:bodyPr/>
          <a:lstStyle/>
          <a:p>
            <a:fld id="{C06DDEFA-A52A-8F42-A356-C2F3C2B42DF0}" type="datetimeFigureOut">
              <a:rPr lang="en-US" smtClean="0"/>
              <a:t>10/19/22</a:t>
            </a:fld>
            <a:endParaRPr lang="en-US"/>
          </a:p>
        </p:txBody>
      </p:sp>
      <p:sp>
        <p:nvSpPr>
          <p:cNvPr id="5" name="Footer Placeholder 4">
            <a:extLst>
              <a:ext uri="{FF2B5EF4-FFF2-40B4-BE49-F238E27FC236}">
                <a16:creationId xmlns:a16="http://schemas.microsoft.com/office/drawing/2014/main" id="{AA0F2C66-2FCC-A38A-7DED-F49109F633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E9D4FE-18DC-111F-7AE7-2E1B5CE84C59}"/>
              </a:ext>
            </a:extLst>
          </p:cNvPr>
          <p:cNvSpPr>
            <a:spLocks noGrp="1"/>
          </p:cNvSpPr>
          <p:nvPr>
            <p:ph type="sldNum" sz="quarter" idx="12"/>
          </p:nvPr>
        </p:nvSpPr>
        <p:spPr/>
        <p:txBody>
          <a:bodyPr/>
          <a:lstStyle/>
          <a:p>
            <a:fld id="{898E338F-CAC0-714D-9E73-457E3A39A256}" type="slidenum">
              <a:rPr lang="en-US" smtClean="0"/>
              <a:t>‹#›</a:t>
            </a:fld>
            <a:endParaRPr lang="en-US"/>
          </a:p>
        </p:txBody>
      </p:sp>
    </p:spTree>
    <p:extLst>
      <p:ext uri="{BB962C8B-B14F-4D97-AF65-F5344CB8AC3E}">
        <p14:creationId xmlns:p14="http://schemas.microsoft.com/office/powerpoint/2010/main" val="41463803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72AA05-544A-72AB-457E-FBDC942D17A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01BE3D-0DC7-62D6-1462-3471C828BB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7E6249-B200-8BEB-3E68-A013501E0BE1}"/>
              </a:ext>
            </a:extLst>
          </p:cNvPr>
          <p:cNvSpPr>
            <a:spLocks noGrp="1"/>
          </p:cNvSpPr>
          <p:nvPr>
            <p:ph type="dt" sz="half" idx="10"/>
          </p:nvPr>
        </p:nvSpPr>
        <p:spPr/>
        <p:txBody>
          <a:bodyPr/>
          <a:lstStyle/>
          <a:p>
            <a:fld id="{C06DDEFA-A52A-8F42-A356-C2F3C2B42DF0}" type="datetimeFigureOut">
              <a:rPr lang="en-US" smtClean="0"/>
              <a:t>10/19/22</a:t>
            </a:fld>
            <a:endParaRPr lang="en-US"/>
          </a:p>
        </p:txBody>
      </p:sp>
      <p:sp>
        <p:nvSpPr>
          <p:cNvPr id="5" name="Footer Placeholder 4">
            <a:extLst>
              <a:ext uri="{FF2B5EF4-FFF2-40B4-BE49-F238E27FC236}">
                <a16:creationId xmlns:a16="http://schemas.microsoft.com/office/drawing/2014/main" id="{D511BBFA-F566-B1BD-9EE5-0A5DAF0624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62AD4F-3C4F-7530-B6B0-AA373F49593C}"/>
              </a:ext>
            </a:extLst>
          </p:cNvPr>
          <p:cNvSpPr>
            <a:spLocks noGrp="1"/>
          </p:cNvSpPr>
          <p:nvPr>
            <p:ph type="sldNum" sz="quarter" idx="12"/>
          </p:nvPr>
        </p:nvSpPr>
        <p:spPr/>
        <p:txBody>
          <a:bodyPr/>
          <a:lstStyle/>
          <a:p>
            <a:fld id="{898E338F-CAC0-714D-9E73-457E3A39A256}" type="slidenum">
              <a:rPr lang="en-US" smtClean="0"/>
              <a:t>‹#›</a:t>
            </a:fld>
            <a:endParaRPr lang="en-US"/>
          </a:p>
        </p:txBody>
      </p:sp>
    </p:spTree>
    <p:extLst>
      <p:ext uri="{BB962C8B-B14F-4D97-AF65-F5344CB8AC3E}">
        <p14:creationId xmlns:p14="http://schemas.microsoft.com/office/powerpoint/2010/main" val="1117036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E72EAB-7C4F-A114-2015-3C2E844F62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A5C66E-E15B-B5CA-528F-9E3B9E5357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E390F5-8B6D-2AD3-4E24-892A20E9CE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6DDEFA-A52A-8F42-A356-C2F3C2B42DF0}" type="datetimeFigureOut">
              <a:rPr lang="en-US" smtClean="0"/>
              <a:t>10/19/22</a:t>
            </a:fld>
            <a:endParaRPr lang="en-US"/>
          </a:p>
        </p:txBody>
      </p:sp>
      <p:sp>
        <p:nvSpPr>
          <p:cNvPr id="5" name="Footer Placeholder 4">
            <a:extLst>
              <a:ext uri="{FF2B5EF4-FFF2-40B4-BE49-F238E27FC236}">
                <a16:creationId xmlns:a16="http://schemas.microsoft.com/office/drawing/2014/main" id="{D6E5A750-E5E7-94D8-1F6E-739FC6C160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9108644-FD7E-4D7F-A728-66D2A61E5B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8E338F-CAC0-714D-9E73-457E3A39A256}" type="slidenum">
              <a:rPr lang="en-US" smtClean="0"/>
              <a:t>‹#›</a:t>
            </a:fld>
            <a:endParaRPr lang="en-US"/>
          </a:p>
        </p:txBody>
      </p:sp>
    </p:spTree>
    <p:extLst>
      <p:ext uri="{BB962C8B-B14F-4D97-AF65-F5344CB8AC3E}">
        <p14:creationId xmlns:p14="http://schemas.microsoft.com/office/powerpoint/2010/main" val="14720541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kaggle.com/fivethirtyeight/uber-pickups-in-new-york-cit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64A6E-B84D-C54F-64F0-4C1DA9249039}"/>
              </a:ext>
            </a:extLst>
          </p:cNvPr>
          <p:cNvSpPr>
            <a:spLocks noGrp="1"/>
          </p:cNvSpPr>
          <p:nvPr>
            <p:ph type="ctrTitle"/>
          </p:nvPr>
        </p:nvSpPr>
        <p:spPr/>
        <p:txBody>
          <a:bodyPr/>
          <a:lstStyle/>
          <a:p>
            <a:r>
              <a:rPr lang="en-US" dirty="0"/>
              <a:t>Individual Project 1</a:t>
            </a:r>
          </a:p>
        </p:txBody>
      </p:sp>
      <p:sp>
        <p:nvSpPr>
          <p:cNvPr id="3" name="Subtitle 2">
            <a:extLst>
              <a:ext uri="{FF2B5EF4-FFF2-40B4-BE49-F238E27FC236}">
                <a16:creationId xmlns:a16="http://schemas.microsoft.com/office/drawing/2014/main" id="{27DDED4A-2424-C80F-20AD-2035B6BEA25B}"/>
              </a:ext>
            </a:extLst>
          </p:cNvPr>
          <p:cNvSpPr>
            <a:spLocks noGrp="1"/>
          </p:cNvSpPr>
          <p:nvPr>
            <p:ph type="subTitle" idx="1"/>
          </p:nvPr>
        </p:nvSpPr>
        <p:spPr/>
        <p:txBody>
          <a:bodyPr/>
          <a:lstStyle/>
          <a:p>
            <a:r>
              <a:rPr lang="en-US" dirty="0"/>
              <a:t>(15% points)</a:t>
            </a:r>
          </a:p>
          <a:p>
            <a:r>
              <a:rPr lang="en-US" dirty="0"/>
              <a:t>File updated: 10/20/2022</a:t>
            </a:r>
          </a:p>
        </p:txBody>
      </p:sp>
    </p:spTree>
    <p:extLst>
      <p:ext uri="{BB962C8B-B14F-4D97-AF65-F5344CB8AC3E}">
        <p14:creationId xmlns:p14="http://schemas.microsoft.com/office/powerpoint/2010/main" val="1583605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C3083-4050-9675-DF9B-F986C145022B}"/>
              </a:ext>
            </a:extLst>
          </p:cNvPr>
          <p:cNvSpPr>
            <a:spLocks noGrp="1"/>
          </p:cNvSpPr>
          <p:nvPr>
            <p:ph type="title"/>
          </p:nvPr>
        </p:nvSpPr>
        <p:spPr/>
        <p:txBody>
          <a:bodyPr/>
          <a:lstStyle/>
          <a:p>
            <a:r>
              <a:rPr lang="en-US" dirty="0">
                <a:latin typeface="+mn-lt"/>
              </a:rPr>
              <a:t>Project 1: </a:t>
            </a:r>
            <a:r>
              <a:rPr lang="en-US" i="0" dirty="0">
                <a:solidFill>
                  <a:srgbClr val="202124"/>
                </a:solidFill>
                <a:effectLst/>
                <a:latin typeface="+mn-lt"/>
              </a:rPr>
              <a:t>Uber Pickups in New York City (1/2)</a:t>
            </a:r>
            <a:endParaRPr lang="en-US" dirty="0">
              <a:latin typeface="+mn-lt"/>
            </a:endParaRPr>
          </a:p>
        </p:txBody>
      </p:sp>
      <p:sp>
        <p:nvSpPr>
          <p:cNvPr id="3" name="Content Placeholder 2">
            <a:extLst>
              <a:ext uri="{FF2B5EF4-FFF2-40B4-BE49-F238E27FC236}">
                <a16:creationId xmlns:a16="http://schemas.microsoft.com/office/drawing/2014/main" id="{AD2181E8-8B21-7998-FC7C-00C2EF746D0E}"/>
              </a:ext>
            </a:extLst>
          </p:cNvPr>
          <p:cNvSpPr>
            <a:spLocks noGrp="1"/>
          </p:cNvSpPr>
          <p:nvPr>
            <p:ph idx="1"/>
          </p:nvPr>
        </p:nvSpPr>
        <p:spPr/>
        <p:txBody>
          <a:bodyPr>
            <a:normAutofit fontScale="92500" lnSpcReduction="20000"/>
          </a:bodyPr>
          <a:lstStyle/>
          <a:p>
            <a:r>
              <a:rPr lang="en-US" dirty="0"/>
              <a:t>Since this is a programming exercise, please DO NOT work in groups. This will help you learn the material. You can talk to each other (and you will get a chance) but please submit your own work and it will be graded accordingly.</a:t>
            </a:r>
          </a:p>
          <a:p>
            <a:r>
              <a:rPr lang="en-US" dirty="0"/>
              <a:t>For project 1, focus on showing (and developing) your programming skills, not on data and results. </a:t>
            </a:r>
            <a:endParaRPr lang="en-US" b="1" i="0" dirty="0">
              <a:solidFill>
                <a:srgbClr val="202124"/>
              </a:solidFill>
              <a:effectLst/>
              <a:latin typeface="zeitung"/>
            </a:endParaRPr>
          </a:p>
          <a:p>
            <a:r>
              <a:rPr lang="en-US" i="0" dirty="0">
                <a:solidFill>
                  <a:srgbClr val="202124"/>
                </a:solidFill>
                <a:effectLst/>
                <a:latin typeface="zeitung"/>
              </a:rPr>
              <a:t>For this project, I have picked a data set for you already. It is called the “Uber Pickups in New York City”, and the file that you need is called “</a:t>
            </a:r>
            <a:r>
              <a:rPr lang="en-US" b="1" i="0" dirty="0">
                <a:solidFill>
                  <a:srgbClr val="202124"/>
                </a:solidFill>
                <a:effectLst/>
                <a:latin typeface="zeitung"/>
              </a:rPr>
              <a:t>uber-raw-data-janjune-15.csv”</a:t>
            </a:r>
            <a:r>
              <a:rPr lang="en-US" i="0" dirty="0">
                <a:solidFill>
                  <a:srgbClr val="202124"/>
                </a:solidFill>
                <a:effectLst/>
                <a:latin typeface="zeitung"/>
              </a:rPr>
              <a:t>: </a:t>
            </a:r>
          </a:p>
          <a:p>
            <a:r>
              <a:rPr lang="en-US" i="0" dirty="0">
                <a:solidFill>
                  <a:srgbClr val="202124"/>
                </a:solidFill>
                <a:effectLst/>
                <a:latin typeface="zeitung"/>
              </a:rPr>
              <a:t>Download from</a:t>
            </a:r>
            <a:r>
              <a:rPr lang="en-US" dirty="0">
                <a:solidFill>
                  <a:srgbClr val="202124"/>
                </a:solidFill>
                <a:latin typeface="zeitung"/>
              </a:rPr>
              <a:t> </a:t>
            </a:r>
            <a:r>
              <a:rPr lang="en-US" dirty="0">
                <a:hlinkClick r:id="rId2"/>
              </a:rPr>
              <a:t>https://www.kaggle.com/fivethirtyeight/uber-pickups-in-new-york-city</a:t>
            </a:r>
            <a:r>
              <a:rPr lang="en-US" dirty="0"/>
              <a:t> </a:t>
            </a:r>
          </a:p>
          <a:p>
            <a:r>
              <a:rPr lang="en-US" dirty="0"/>
              <a:t>Note that the above site has 8+ tables but you don’t need all of them – just the one mentioned above.</a:t>
            </a:r>
          </a:p>
          <a:p>
            <a:endParaRPr lang="en-US" dirty="0"/>
          </a:p>
        </p:txBody>
      </p:sp>
    </p:spTree>
    <p:extLst>
      <p:ext uri="{BB962C8B-B14F-4D97-AF65-F5344CB8AC3E}">
        <p14:creationId xmlns:p14="http://schemas.microsoft.com/office/powerpoint/2010/main" val="3760321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BE929-0E6C-6E46-0206-0D2CFFFF7F77}"/>
              </a:ext>
            </a:extLst>
          </p:cNvPr>
          <p:cNvSpPr>
            <a:spLocks noGrp="1"/>
          </p:cNvSpPr>
          <p:nvPr>
            <p:ph type="title"/>
          </p:nvPr>
        </p:nvSpPr>
        <p:spPr/>
        <p:txBody>
          <a:bodyPr/>
          <a:lstStyle/>
          <a:p>
            <a:r>
              <a:rPr lang="en-US" dirty="0">
                <a:latin typeface="+mn-lt"/>
              </a:rPr>
              <a:t>Project 1: </a:t>
            </a:r>
            <a:r>
              <a:rPr lang="en-US" i="0" dirty="0">
                <a:solidFill>
                  <a:srgbClr val="202124"/>
                </a:solidFill>
                <a:effectLst/>
                <a:latin typeface="+mn-lt"/>
              </a:rPr>
              <a:t>Uber Pickups in New York City (2/2)</a:t>
            </a:r>
            <a:endParaRPr lang="en-US" dirty="0"/>
          </a:p>
        </p:txBody>
      </p:sp>
      <p:sp>
        <p:nvSpPr>
          <p:cNvPr id="3" name="Content Placeholder 2">
            <a:extLst>
              <a:ext uri="{FF2B5EF4-FFF2-40B4-BE49-F238E27FC236}">
                <a16:creationId xmlns:a16="http://schemas.microsoft.com/office/drawing/2014/main" id="{7B43265E-45FB-4C81-DB95-9F46F6054D56}"/>
              </a:ext>
            </a:extLst>
          </p:cNvPr>
          <p:cNvSpPr>
            <a:spLocks noGrp="1"/>
          </p:cNvSpPr>
          <p:nvPr>
            <p:ph idx="1"/>
          </p:nvPr>
        </p:nvSpPr>
        <p:spPr>
          <a:xfrm>
            <a:off x="838200" y="1539089"/>
            <a:ext cx="10515600" cy="4953785"/>
          </a:xfrm>
        </p:spPr>
        <p:txBody>
          <a:bodyPr>
            <a:normAutofit lnSpcReduction="10000"/>
          </a:bodyPr>
          <a:lstStyle/>
          <a:p>
            <a:r>
              <a:rPr lang="en-US" sz="2000" dirty="0"/>
              <a:t>The CSV file is too large to be opened in Excel </a:t>
            </a:r>
            <a:r>
              <a:rPr lang="en-US" sz="2000" dirty="0">
                <a:sym typeface="Wingdings" panose="05000000000000000000" pitchFamily="2" charset="2"/>
              </a:rPr>
              <a:t> </a:t>
            </a:r>
          </a:p>
          <a:p>
            <a:r>
              <a:rPr lang="en-US" sz="2000" dirty="0">
                <a:sym typeface="Wingdings" panose="05000000000000000000" pitchFamily="2" charset="2"/>
              </a:rPr>
              <a:t>You can open it with Notepad but then you can’t do any calculations. Hence your only easy choice is to use Python. </a:t>
            </a:r>
          </a:p>
          <a:p>
            <a:r>
              <a:rPr lang="en-US" sz="2000" dirty="0">
                <a:sym typeface="Wingdings" panose="05000000000000000000" pitchFamily="2" charset="2"/>
              </a:rPr>
              <a:t>Summarize the data in various formats. Plot it. </a:t>
            </a:r>
          </a:p>
          <a:p>
            <a:r>
              <a:rPr lang="en-US" sz="2000" dirty="0">
                <a:sym typeface="Wingdings" panose="05000000000000000000" pitchFamily="2" charset="2"/>
              </a:rPr>
              <a:t>Some ideas or questions to answer. But the list is just a start and you should think of more questions:</a:t>
            </a:r>
          </a:p>
          <a:p>
            <a:pPr lvl="1"/>
            <a:r>
              <a:rPr lang="en-US" sz="1600" dirty="0">
                <a:sym typeface="Wingdings" panose="05000000000000000000" pitchFamily="2" charset="2"/>
              </a:rPr>
              <a:t>Summarize data (</a:t>
            </a:r>
            <a:r>
              <a:rPr lang="en-US" sz="1600" dirty="0" err="1">
                <a:sym typeface="Wingdings" panose="05000000000000000000" pitchFamily="2" charset="2"/>
              </a:rPr>
              <a:t>df.groupby</a:t>
            </a:r>
            <a:r>
              <a:rPr lang="en-US" sz="1600" dirty="0">
                <a:sym typeface="Wingdings" panose="05000000000000000000" pitchFamily="2" charset="2"/>
              </a:rPr>
              <a:t>) by </a:t>
            </a:r>
            <a:r>
              <a:rPr lang="en-US" sz="1600" dirty="0" err="1">
                <a:sym typeface="Wingdings" panose="05000000000000000000" pitchFamily="2" charset="2"/>
              </a:rPr>
              <a:t>Dispatching_base_num</a:t>
            </a:r>
            <a:r>
              <a:rPr lang="en-US" sz="1600" dirty="0">
                <a:sym typeface="Wingdings" panose="05000000000000000000" pitchFamily="2" charset="2"/>
              </a:rPr>
              <a:t> and </a:t>
            </a:r>
            <a:r>
              <a:rPr lang="en-US" sz="1600" dirty="0" err="1">
                <a:sym typeface="Wingdings" panose="05000000000000000000" pitchFamily="2" charset="2"/>
              </a:rPr>
              <a:t>locationID</a:t>
            </a:r>
            <a:r>
              <a:rPr lang="en-US" sz="1600" dirty="0">
                <a:sym typeface="Wingdings" panose="05000000000000000000" pitchFamily="2" charset="2"/>
              </a:rPr>
              <a:t>. [Hint: </a:t>
            </a:r>
            <a:r>
              <a:rPr lang="en-US" sz="1600" dirty="0" err="1">
                <a:sym typeface="Wingdings" panose="05000000000000000000" pitchFamily="2" charset="2"/>
              </a:rPr>
              <a:t>df_Dispatching_base_num_locationID</a:t>
            </a:r>
            <a:r>
              <a:rPr lang="en-US" sz="1600" dirty="0">
                <a:sym typeface="Wingdings" panose="05000000000000000000" pitchFamily="2" charset="2"/>
              </a:rPr>
              <a:t> = </a:t>
            </a:r>
            <a:r>
              <a:rPr lang="en-US" sz="1600" dirty="0" err="1">
                <a:sym typeface="Wingdings" panose="05000000000000000000" pitchFamily="2" charset="2"/>
              </a:rPr>
              <a:t>df.groupby</a:t>
            </a:r>
            <a:r>
              <a:rPr lang="en-US" sz="1600" dirty="0">
                <a:sym typeface="Wingdings" panose="05000000000000000000" pitchFamily="2" charset="2"/>
              </a:rPr>
              <a:t>(['Dispatching_base_num','</a:t>
            </a:r>
            <a:r>
              <a:rPr lang="en-US" sz="1600" dirty="0" err="1">
                <a:sym typeface="Wingdings" panose="05000000000000000000" pitchFamily="2" charset="2"/>
              </a:rPr>
              <a:t>locationID</a:t>
            </a:r>
            <a:r>
              <a:rPr lang="en-US" sz="1600" dirty="0">
                <a:sym typeface="Wingdings" panose="05000000000000000000" pitchFamily="2" charset="2"/>
              </a:rPr>
              <a:t>']).size().</a:t>
            </a:r>
            <a:r>
              <a:rPr lang="en-US" sz="1600" dirty="0" err="1">
                <a:sym typeface="Wingdings" panose="05000000000000000000" pitchFamily="2" charset="2"/>
              </a:rPr>
              <a:t>reset_index</a:t>
            </a:r>
            <a:r>
              <a:rPr lang="en-US" sz="1600" dirty="0">
                <a:sym typeface="Wingdings" panose="05000000000000000000" pitchFamily="2" charset="2"/>
              </a:rPr>
              <a:t>(name='count’)     ]</a:t>
            </a:r>
          </a:p>
          <a:p>
            <a:pPr lvl="1"/>
            <a:r>
              <a:rPr lang="en-US" sz="1600" dirty="0">
                <a:sym typeface="Wingdings" panose="05000000000000000000" pitchFamily="2" charset="2"/>
              </a:rPr>
              <a:t>Which </a:t>
            </a:r>
            <a:r>
              <a:rPr lang="en-US" sz="1600" dirty="0" err="1">
                <a:sym typeface="Wingdings" panose="05000000000000000000" pitchFamily="2" charset="2"/>
              </a:rPr>
              <a:t>locationID</a:t>
            </a:r>
            <a:r>
              <a:rPr lang="en-US" sz="1600" dirty="0">
                <a:sym typeface="Wingdings" panose="05000000000000000000" pitchFamily="2" charset="2"/>
              </a:rPr>
              <a:t> has the highest count?</a:t>
            </a:r>
          </a:p>
          <a:p>
            <a:pPr lvl="1"/>
            <a:r>
              <a:rPr lang="en-US" sz="1600" dirty="0">
                <a:sym typeface="Wingdings" panose="05000000000000000000" pitchFamily="2" charset="2"/>
              </a:rPr>
              <a:t>Which </a:t>
            </a:r>
            <a:r>
              <a:rPr lang="en-US" sz="1600" dirty="0" err="1">
                <a:sym typeface="Wingdings" panose="05000000000000000000" pitchFamily="2" charset="2"/>
              </a:rPr>
              <a:t>Dispatching_base_num</a:t>
            </a:r>
            <a:r>
              <a:rPr lang="en-US" sz="1600" dirty="0">
                <a:sym typeface="Wingdings" panose="05000000000000000000" pitchFamily="2" charset="2"/>
              </a:rPr>
              <a:t>  appeared maximum time?</a:t>
            </a:r>
          </a:p>
          <a:p>
            <a:pPr lvl="1"/>
            <a:r>
              <a:rPr lang="en-US" sz="1600" dirty="0">
                <a:sym typeface="Wingdings" panose="05000000000000000000" pitchFamily="2" charset="2"/>
              </a:rPr>
              <a:t>Which three dates have the highest traffic? Which days (Mon, Tue?) were these (find this programmatically). </a:t>
            </a:r>
          </a:p>
          <a:p>
            <a:pPr lvl="1"/>
            <a:r>
              <a:rPr lang="en-US" sz="1600" dirty="0">
                <a:sym typeface="Wingdings" panose="05000000000000000000" pitchFamily="2" charset="2"/>
              </a:rPr>
              <a:t>How many </a:t>
            </a:r>
            <a:r>
              <a:rPr lang="en-US" sz="1600" dirty="0" err="1">
                <a:sym typeface="Wingdings" panose="05000000000000000000" pitchFamily="2" charset="2"/>
              </a:rPr>
              <a:t>dispatching_bases</a:t>
            </a:r>
            <a:r>
              <a:rPr lang="en-US" sz="1600" dirty="0">
                <a:sym typeface="Wingdings" panose="05000000000000000000" pitchFamily="2" charset="2"/>
              </a:rPr>
              <a:t> are there?</a:t>
            </a:r>
          </a:p>
          <a:p>
            <a:pPr lvl="1"/>
            <a:r>
              <a:rPr lang="en-US" sz="1600" dirty="0">
                <a:sym typeface="Wingdings" panose="05000000000000000000" pitchFamily="2" charset="2"/>
              </a:rPr>
              <a:t>Summarize data per day (eliminate time) and plot the number of pickups per day. If days are too many, summarize per week. </a:t>
            </a:r>
          </a:p>
          <a:p>
            <a:pPr lvl="1"/>
            <a:r>
              <a:rPr lang="en-US" sz="1600" dirty="0">
                <a:sym typeface="Wingdings" panose="05000000000000000000" pitchFamily="2" charset="2"/>
              </a:rPr>
              <a:t>Is there an </a:t>
            </a:r>
            <a:r>
              <a:rPr lang="en-US" sz="1600" dirty="0" err="1">
                <a:sym typeface="Wingdings" panose="05000000000000000000" pitchFamily="2" charset="2"/>
              </a:rPr>
              <a:t>Affiliated_base_num</a:t>
            </a:r>
            <a:r>
              <a:rPr lang="en-US" sz="1600" dirty="0">
                <a:sym typeface="Wingdings" panose="05000000000000000000" pitchFamily="2" charset="2"/>
              </a:rPr>
              <a:t> which has some interesting statistics (most people visit it on a certain day of the week?)</a:t>
            </a:r>
          </a:p>
          <a:p>
            <a:pPr lvl="1"/>
            <a:r>
              <a:rPr lang="en-US" sz="1600" dirty="0">
                <a:sym typeface="Wingdings" panose="05000000000000000000" pitchFamily="2" charset="2"/>
              </a:rPr>
              <a:t>Plot in various formats, even if it is the same data. Use colors and fancy charts. </a:t>
            </a:r>
          </a:p>
          <a:p>
            <a:pPr lvl="1"/>
            <a:r>
              <a:rPr lang="en-US" sz="1600" dirty="0">
                <a:sym typeface="Wingdings" panose="05000000000000000000" pitchFamily="2" charset="2"/>
              </a:rPr>
              <a:t>The idea is to explore this data and discover interesting pieces of information which you would like to discover.  </a:t>
            </a:r>
          </a:p>
        </p:txBody>
      </p:sp>
    </p:spTree>
    <p:extLst>
      <p:ext uri="{BB962C8B-B14F-4D97-AF65-F5344CB8AC3E}">
        <p14:creationId xmlns:p14="http://schemas.microsoft.com/office/powerpoint/2010/main" val="593787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1FB13-22C3-4640-0064-AF3AE943BA67}"/>
              </a:ext>
            </a:extLst>
          </p:cNvPr>
          <p:cNvSpPr>
            <a:spLocks noGrp="1"/>
          </p:cNvSpPr>
          <p:nvPr>
            <p:ph type="title"/>
          </p:nvPr>
        </p:nvSpPr>
        <p:spPr/>
        <p:txBody>
          <a:bodyPr/>
          <a:lstStyle/>
          <a:p>
            <a:r>
              <a:rPr lang="en-US" dirty="0"/>
              <a:t>Results submission (Assignments section)</a:t>
            </a:r>
          </a:p>
        </p:txBody>
      </p:sp>
      <p:sp>
        <p:nvSpPr>
          <p:cNvPr id="3" name="Content Placeholder 2">
            <a:extLst>
              <a:ext uri="{FF2B5EF4-FFF2-40B4-BE49-F238E27FC236}">
                <a16:creationId xmlns:a16="http://schemas.microsoft.com/office/drawing/2014/main" id="{03C97160-1960-6C83-5E48-40204D4E98E2}"/>
              </a:ext>
            </a:extLst>
          </p:cNvPr>
          <p:cNvSpPr>
            <a:spLocks noGrp="1"/>
          </p:cNvSpPr>
          <p:nvPr>
            <p:ph idx="1"/>
          </p:nvPr>
        </p:nvSpPr>
        <p:spPr>
          <a:xfrm>
            <a:off x="491706" y="1552755"/>
            <a:ext cx="11136702" cy="4940120"/>
          </a:xfrm>
        </p:spPr>
        <p:txBody>
          <a:bodyPr>
            <a:normAutofit fontScale="92500" lnSpcReduction="10000"/>
          </a:bodyPr>
          <a:lstStyle/>
          <a:p>
            <a:r>
              <a:rPr lang="en-US" sz="2400" dirty="0"/>
              <a:t>Part A: </a:t>
            </a:r>
          </a:p>
          <a:p>
            <a:pPr lvl="1"/>
            <a:r>
              <a:rPr lang="en-US" sz="1800" dirty="0"/>
              <a:t>By the deadline (5 PM </a:t>
            </a:r>
            <a:r>
              <a:rPr lang="en-US" sz="1800" b="1" dirty="0"/>
              <a:t>BEFORE</a:t>
            </a:r>
            <a:r>
              <a:rPr lang="en-US" sz="1800" dirty="0"/>
              <a:t> your class of the week that will start from Sunday 30</a:t>
            </a:r>
            <a:r>
              <a:rPr lang="en-US" sz="1800" baseline="30000" dirty="0"/>
              <a:t>th</a:t>
            </a:r>
            <a:r>
              <a:rPr lang="en-US" sz="1800" dirty="0"/>
              <a:t>), you will submit the first version of the </a:t>
            </a:r>
            <a:r>
              <a:rPr lang="en-US" sz="1800" dirty="0" err="1"/>
              <a:t>jupyter</a:t>
            </a:r>
            <a:r>
              <a:rPr lang="en-US" sz="1800" dirty="0"/>
              <a:t> file. </a:t>
            </a:r>
          </a:p>
          <a:p>
            <a:pPr lvl="1"/>
            <a:r>
              <a:rPr lang="en-US" sz="1800" dirty="0"/>
              <a:t>Make your best attempt at completing the project 1 with as much coding expertise shown as possible. </a:t>
            </a:r>
          </a:p>
          <a:p>
            <a:pPr lvl="1"/>
            <a:r>
              <a:rPr lang="en-US" sz="1800" b="1" dirty="0">
                <a:solidFill>
                  <a:srgbClr val="FF0000"/>
                </a:solidFill>
              </a:rPr>
              <a:t>Late submission means zero for this project. No exceptions.</a:t>
            </a:r>
          </a:p>
          <a:p>
            <a:r>
              <a:rPr lang="en-US" sz="2400" dirty="0"/>
              <a:t>Part B: </a:t>
            </a:r>
          </a:p>
          <a:p>
            <a:pPr lvl="1"/>
            <a:r>
              <a:rPr lang="en-US" sz="1800" dirty="0"/>
              <a:t>During the class of the same week (the week that will start from Sunday 30</a:t>
            </a:r>
            <a:r>
              <a:rPr lang="en-US" sz="1800" baseline="30000" dirty="0"/>
              <a:t>th</a:t>
            </a:r>
            <a:r>
              <a:rPr lang="en-US" sz="1800" dirty="0"/>
              <a:t>) you will be sent to Breakout rooms for 15 minutes. </a:t>
            </a:r>
            <a:r>
              <a:rPr lang="en-US" sz="1800" u="sng" dirty="0">
                <a:solidFill>
                  <a:srgbClr val="FF0000"/>
                </a:solidFill>
              </a:rPr>
              <a:t>You must have submitted your work BEFORE that otherwise you get zero in that part.</a:t>
            </a:r>
          </a:p>
          <a:p>
            <a:pPr lvl="1"/>
            <a:r>
              <a:rPr lang="en-US" sz="1800" dirty="0"/>
              <a:t>During this time, you can talk to others in the group about what they have done. Rather than showing code, discuss ideas, things you have explored, new functions tried, new types of plots, etc. If you feel you missed something, you now have time to update your own work. </a:t>
            </a:r>
          </a:p>
          <a:p>
            <a:pPr lvl="1"/>
            <a:r>
              <a:rPr lang="en-US" sz="1800" dirty="0"/>
              <a:t>Deadline: Part B: You will have 72 hours after the end of the class to submit the second version of the project. </a:t>
            </a:r>
          </a:p>
          <a:p>
            <a:r>
              <a:rPr lang="en-US" sz="2400" b="1" dirty="0"/>
              <a:t>Both</a:t>
            </a:r>
            <a:r>
              <a:rPr lang="en-US" sz="2400" dirty="0"/>
              <a:t> parts will be graded, and the result will be: 0.5*Part A + 0.5*Part B</a:t>
            </a:r>
          </a:p>
          <a:p>
            <a:r>
              <a:rPr lang="en-US" sz="2400" dirty="0"/>
              <a:t>If your project work cannot be presented in a </a:t>
            </a:r>
            <a:r>
              <a:rPr lang="en-US" sz="2400" dirty="0" err="1"/>
              <a:t>jupyter</a:t>
            </a:r>
            <a:r>
              <a:rPr lang="en-US" sz="2400" dirty="0"/>
              <a:t> notebook, or Word/PPT file, you can submit them as CSV or Excel format too. For example, if the </a:t>
            </a:r>
            <a:r>
              <a:rPr lang="en-US" sz="2400" dirty="0" err="1"/>
              <a:t>groupby</a:t>
            </a:r>
            <a:r>
              <a:rPr lang="en-US" sz="2400" dirty="0"/>
              <a:t> command gives you 300 rows, you can submit that summary as a CSV file, etc. </a:t>
            </a:r>
          </a:p>
        </p:txBody>
      </p:sp>
    </p:spTree>
    <p:extLst>
      <p:ext uri="{BB962C8B-B14F-4D97-AF65-F5344CB8AC3E}">
        <p14:creationId xmlns:p14="http://schemas.microsoft.com/office/powerpoint/2010/main" val="3673806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C8542-25BF-D3C1-E3EF-3E0FD79FB226}"/>
              </a:ext>
            </a:extLst>
          </p:cNvPr>
          <p:cNvSpPr>
            <a:spLocks noGrp="1"/>
          </p:cNvSpPr>
          <p:nvPr>
            <p:ph type="title"/>
          </p:nvPr>
        </p:nvSpPr>
        <p:spPr>
          <a:xfrm>
            <a:off x="838200" y="365125"/>
            <a:ext cx="10515600" cy="1321061"/>
          </a:xfrm>
        </p:spPr>
        <p:txBody>
          <a:bodyPr/>
          <a:lstStyle/>
          <a:p>
            <a:r>
              <a:rPr lang="en-US" dirty="0"/>
              <a:t>Scoring rubric</a:t>
            </a:r>
          </a:p>
        </p:txBody>
      </p:sp>
      <p:graphicFrame>
        <p:nvGraphicFramePr>
          <p:cNvPr id="4" name="Table 4">
            <a:extLst>
              <a:ext uri="{FF2B5EF4-FFF2-40B4-BE49-F238E27FC236}">
                <a16:creationId xmlns:a16="http://schemas.microsoft.com/office/drawing/2014/main" id="{FBA63FFC-E4BD-6822-71B9-ADC38E10F436}"/>
              </a:ext>
            </a:extLst>
          </p:cNvPr>
          <p:cNvGraphicFramePr>
            <a:graphicFrameLocks noGrp="1"/>
          </p:cNvGraphicFramePr>
          <p:nvPr>
            <p:extLst>
              <p:ext uri="{D42A27DB-BD31-4B8C-83A1-F6EECF244321}">
                <p14:modId xmlns:p14="http://schemas.microsoft.com/office/powerpoint/2010/main" val="2963626729"/>
              </p:ext>
            </p:extLst>
          </p:nvPr>
        </p:nvGraphicFramePr>
        <p:xfrm>
          <a:off x="981512" y="1880196"/>
          <a:ext cx="10024844" cy="3840480"/>
        </p:xfrm>
        <a:graphic>
          <a:graphicData uri="http://schemas.openxmlformats.org/drawingml/2006/table">
            <a:tbl>
              <a:tblPr firstRow="1" bandRow="1">
                <a:tableStyleId>{5C22544A-7EE6-4342-B048-85BDC9FD1C3A}</a:tableStyleId>
              </a:tblPr>
              <a:tblGrid>
                <a:gridCol w="7826928">
                  <a:extLst>
                    <a:ext uri="{9D8B030D-6E8A-4147-A177-3AD203B41FA5}">
                      <a16:colId xmlns:a16="http://schemas.microsoft.com/office/drawing/2014/main" val="1284925364"/>
                    </a:ext>
                  </a:extLst>
                </a:gridCol>
                <a:gridCol w="2197916">
                  <a:extLst>
                    <a:ext uri="{9D8B030D-6E8A-4147-A177-3AD203B41FA5}">
                      <a16:colId xmlns:a16="http://schemas.microsoft.com/office/drawing/2014/main" val="2966695653"/>
                    </a:ext>
                  </a:extLst>
                </a:gridCol>
              </a:tblGrid>
              <a:tr h="370840">
                <a:tc>
                  <a:txBody>
                    <a:bodyPr/>
                    <a:lstStyle/>
                    <a:p>
                      <a:r>
                        <a:rPr lang="en-US" sz="2400" dirty="0"/>
                        <a:t>Item</a:t>
                      </a:r>
                    </a:p>
                  </a:txBody>
                  <a:tcPr/>
                </a:tc>
                <a:tc>
                  <a:txBody>
                    <a:bodyPr/>
                    <a:lstStyle/>
                    <a:p>
                      <a:r>
                        <a:rPr lang="en-US" sz="2400" dirty="0"/>
                        <a:t>Percentage</a:t>
                      </a:r>
                    </a:p>
                  </a:txBody>
                  <a:tcPr/>
                </a:tc>
                <a:extLst>
                  <a:ext uri="{0D108BD9-81ED-4DB2-BD59-A6C34878D82A}">
                    <a16:rowId xmlns:a16="http://schemas.microsoft.com/office/drawing/2014/main" val="23338892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The code should be working</a:t>
                      </a:r>
                    </a:p>
                  </a:txBody>
                  <a:tcPr/>
                </a:tc>
                <a:tc>
                  <a:txBody>
                    <a:bodyPr/>
                    <a:lstStyle/>
                    <a:p>
                      <a:r>
                        <a:rPr lang="en-US" sz="2400" dirty="0"/>
                        <a:t>50</a:t>
                      </a:r>
                    </a:p>
                  </a:txBody>
                  <a:tcPr/>
                </a:tc>
                <a:extLst>
                  <a:ext uri="{0D108BD9-81ED-4DB2-BD59-A6C34878D82A}">
                    <a16:rowId xmlns:a16="http://schemas.microsoft.com/office/drawing/2014/main" val="89080212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Comments explaining each part of the code that requires explanation</a:t>
                      </a:r>
                    </a:p>
                  </a:txBody>
                  <a:tcPr/>
                </a:tc>
                <a:tc>
                  <a:txBody>
                    <a:bodyPr/>
                    <a:lstStyle/>
                    <a:p>
                      <a:r>
                        <a:rPr lang="en-US" sz="2400" dirty="0"/>
                        <a:t>20</a:t>
                      </a:r>
                    </a:p>
                  </a:txBody>
                  <a:tcPr/>
                </a:tc>
                <a:extLst>
                  <a:ext uri="{0D108BD9-81ED-4DB2-BD59-A6C34878D82A}">
                    <a16:rowId xmlns:a16="http://schemas.microsoft.com/office/drawing/2014/main" val="346117171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At least 7-8 questions answered (perhaps from the list given earlier)</a:t>
                      </a:r>
                    </a:p>
                  </a:txBody>
                  <a:tcPr/>
                </a:tc>
                <a:tc>
                  <a:txBody>
                    <a:bodyPr/>
                    <a:lstStyle/>
                    <a:p>
                      <a:r>
                        <a:rPr lang="en-US" sz="2400" dirty="0"/>
                        <a:t>10</a:t>
                      </a:r>
                    </a:p>
                  </a:txBody>
                  <a:tcPr/>
                </a:tc>
                <a:extLst>
                  <a:ext uri="{0D108BD9-81ED-4DB2-BD59-A6C34878D82A}">
                    <a16:rowId xmlns:a16="http://schemas.microsoft.com/office/drawing/2014/main" val="83143886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Coding standards followed (Correct use of variables, functions, unambiguous naming, etc.) </a:t>
                      </a:r>
                    </a:p>
                  </a:txBody>
                  <a:tcPr/>
                </a:tc>
                <a:tc>
                  <a:txBody>
                    <a:bodyPr/>
                    <a:lstStyle/>
                    <a:p>
                      <a:r>
                        <a:rPr lang="en-US" sz="2400" dirty="0"/>
                        <a:t>10</a:t>
                      </a:r>
                    </a:p>
                  </a:txBody>
                  <a:tcPr/>
                </a:tc>
                <a:extLst>
                  <a:ext uri="{0D108BD9-81ED-4DB2-BD59-A6C34878D82A}">
                    <a16:rowId xmlns:a16="http://schemas.microsoft.com/office/drawing/2014/main" val="1347280661"/>
                  </a:ext>
                </a:extLst>
              </a:tr>
              <a:tr h="370840">
                <a:tc>
                  <a:txBody>
                    <a:bodyPr/>
                    <a:lstStyle/>
                    <a:p>
                      <a:r>
                        <a:rPr lang="en-US" sz="2400" dirty="0"/>
                        <a:t>Presentation (Use of graphics, colors, Markup, etc.)</a:t>
                      </a:r>
                    </a:p>
                  </a:txBody>
                  <a:tcPr/>
                </a:tc>
                <a:tc>
                  <a:txBody>
                    <a:bodyPr/>
                    <a:lstStyle/>
                    <a:p>
                      <a:r>
                        <a:rPr lang="en-US" sz="2400" dirty="0"/>
                        <a:t>10</a:t>
                      </a:r>
                    </a:p>
                  </a:txBody>
                  <a:tcPr/>
                </a:tc>
                <a:extLst>
                  <a:ext uri="{0D108BD9-81ED-4DB2-BD59-A6C34878D82A}">
                    <a16:rowId xmlns:a16="http://schemas.microsoft.com/office/drawing/2014/main" val="2994112203"/>
                  </a:ext>
                </a:extLst>
              </a:tr>
            </a:tbl>
          </a:graphicData>
        </a:graphic>
      </p:graphicFrame>
    </p:spTree>
    <p:extLst>
      <p:ext uri="{BB962C8B-B14F-4D97-AF65-F5344CB8AC3E}">
        <p14:creationId xmlns:p14="http://schemas.microsoft.com/office/powerpoint/2010/main" val="16443393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4546</TotalTime>
  <Words>778</Words>
  <Application>Microsoft Macintosh PowerPoint</Application>
  <PresentationFormat>Widescreen</PresentationFormat>
  <Paragraphs>47</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zeitung</vt:lpstr>
      <vt:lpstr>Office Theme</vt:lpstr>
      <vt:lpstr>Individual Project 1</vt:lpstr>
      <vt:lpstr>Project 1: Uber Pickups in New York City (1/2)</vt:lpstr>
      <vt:lpstr>Project 1: Uber Pickups in New York City (2/2)</vt:lpstr>
      <vt:lpstr>Results submission (Assignments section)</vt:lpstr>
      <vt:lpstr>Scoring rubric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as of today</dc:title>
  <dc:creator>Muhammad Ali Yousuf</dc:creator>
  <cp:lastModifiedBy>Muhammad Ali Yousuf</cp:lastModifiedBy>
  <cp:revision>3</cp:revision>
  <dcterms:created xsi:type="dcterms:W3CDTF">2022-10-12T20:58:44Z</dcterms:created>
  <dcterms:modified xsi:type="dcterms:W3CDTF">2022-10-21T01:41:58Z</dcterms:modified>
</cp:coreProperties>
</file>